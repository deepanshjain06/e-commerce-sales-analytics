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E0E0FF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E0E0FF"/>
                </a:solidFill>
                <a:latin typeface="Arial" panose="020B0604020202020204"/>
              </a:rPr>
              <a:t>Revenue by State (K)</a:t>
            </a:r>
            <a:endParaRPr sz="1100" b="0" i="0" u="none" strike="noStrike">
              <a:solidFill>
                <a:srgbClr val="E0E0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(K)</c:v>
                </c:pt>
              </c:strCache>
            </c:strRef>
          </c:tx>
          <c:spPr>
            <a:solidFill>
              <a:srgbClr val="6C63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C63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9D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Maharashtra</c:v>
                </c:pt>
                <c:pt idx="1">
                  <c:v>Madhya Pradesh</c:v>
                </c:pt>
                <c:pt idx="2">
                  <c:v>Uttar Pradesh</c:v>
                </c:pt>
                <c:pt idx="3">
                  <c:v>Delhi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</c:v>
                </c:pt>
                <c:pt idx="1">
                  <c:v>87</c:v>
                </c:pt>
                <c:pt idx="2">
                  <c:v>38</c:v>
                </c:pt>
                <c:pt idx="3">
                  <c:v>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999C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2A2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999C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ec46641-5bda-4c18-aeb7-cf72c228992c}"/>
      </c:ext>
    </c:extLst>
  </c:chart>
  <c:spPr>
    <a:solidFill>
      <a:srgbClr val="16164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E0E0FF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E0E0FF"/>
                </a:solidFill>
                <a:latin typeface="Arial" panose="020B0604020202020204"/>
              </a:rPr>
              <a:t>Payment Mode Share (%)</a:t>
            </a:r>
            <a:endParaRPr sz="1100" b="0" i="0" u="none" strike="noStrike">
              <a:solidFill>
                <a:srgbClr val="E0E0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bubble3D val="0"/>
            <c:spPr>
              <a:solidFill>
                <a:srgbClr val="6C63FF"/>
              </a:solidFill>
              <a:effectLst/>
            </c:spPr>
          </c:dPt>
          <c:dPt>
            <c:idx val="2"/>
            <c:bubble3D val="0"/>
            <c:spPr>
              <a:solidFill>
                <a:srgbClr val="FFD166"/>
              </a:solidFill>
              <a:effectLst/>
            </c:spPr>
          </c:dPt>
          <c:dPt>
            <c:idx val="3"/>
            <c:bubble3D val="0"/>
            <c:spPr>
              <a:solidFill>
                <a:srgbClr val="FF6B9D"/>
              </a:solidFill>
              <a:effectLst/>
            </c:spPr>
          </c:dPt>
          <c:dPt>
            <c:idx val="4"/>
            <c:bubble3D val="0"/>
            <c:spPr>
              <a:solidFill>
                <a:srgbClr val="06D6A0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COD</c:v>
                </c:pt>
                <c:pt idx="1">
                  <c:v>UPI</c:v>
                </c:pt>
                <c:pt idx="2">
                  <c:v>Debit Card</c:v>
                </c:pt>
                <c:pt idx="3">
                  <c:v>Credit Card</c:v>
                </c:pt>
                <c:pt idx="4">
                  <c:v>EMI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21</c:v>
                </c:pt>
                <c:pt idx="2">
                  <c:v>13</c:v>
                </c:pt>
                <c:pt idx="3">
                  <c:v>12</c:v>
                </c:pt>
                <c:pt idx="4">
                  <c:v>10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800" b="0" i="0" u="none" strike="noStrike" kern="1200" baseline="0">
              <a:solidFill>
                <a:srgbClr val="9999CC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484e1d2-d424-4f93-b6a8-275845421dc2}"/>
      </c:ext>
    </c:extLst>
  </c:chart>
  <c:spPr>
    <a:solidFill>
      <a:srgbClr val="16164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E0E0FF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E0E0FF"/>
                </a:solidFill>
                <a:latin typeface="Arial" panose="020B0604020202020204"/>
              </a:rPr>
              <a:t>Quantity by Category</a:t>
            </a:r>
            <a:endParaRPr sz="1100" b="0" i="0" u="none" strike="noStrike">
              <a:solidFill>
                <a:srgbClr val="E0E0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6C63FF"/>
              </a:solidFill>
              <a:effectLst/>
            </c:spPr>
          </c:dPt>
          <c:dPt>
            <c:idx val="1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bubble3D val="0"/>
            <c:spPr>
              <a:solidFill>
                <a:srgbClr val="FFD166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Clothing</c:v>
                </c:pt>
                <c:pt idx="1">
                  <c:v>Electronics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</c:v>
                </c:pt>
                <c:pt idx="1">
                  <c:v>21</c:v>
                </c:pt>
                <c:pt idx="2">
                  <c:v>17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750" b="0" i="0" u="none" strike="noStrike" kern="1200" baseline="0">
              <a:solidFill>
                <a:srgbClr val="9999CC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27606b0-2611-4ed9-95a3-cc9f59dcaf75}"/>
      </c:ext>
    </c:extLst>
  </c:chart>
  <c:spPr>
    <a:solidFill>
      <a:srgbClr val="16164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E0E0FF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E0E0FF"/>
                </a:solidFill>
                <a:latin typeface="Arial" panose="020B0604020202020204"/>
              </a:rPr>
              <a:t>Monthly Profit Trend (K)</a:t>
            </a:r>
            <a:endParaRPr sz="1100" b="0" i="0" u="none" strike="noStrike">
              <a:solidFill>
                <a:srgbClr val="E0E0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(K)</c:v>
                </c:pt>
              </c:strCache>
            </c:strRef>
          </c:tx>
          <c:spPr>
            <a:solidFill>
              <a:srgbClr val="6C63FF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5.2</c:v>
                </c:pt>
                <c:pt idx="1">
                  <c:v>2.8</c:v>
                </c:pt>
                <c:pt idx="2">
                  <c:v>4.8</c:v>
                </c:pt>
                <c:pt idx="3">
                  <c:v>3.1</c:v>
                </c:pt>
                <c:pt idx="4">
                  <c:v>3.5</c:v>
                </c:pt>
                <c:pt idx="5">
                  <c:v>2.9</c:v>
                </c:pt>
                <c:pt idx="6">
                  <c:v>1.2</c:v>
                </c:pt>
                <c:pt idx="7">
                  <c:v>-0.5</c:v>
                </c:pt>
                <c:pt idx="8">
                  <c:v>4.1</c:v>
                </c:pt>
                <c:pt idx="9">
                  <c:v>5</c:v>
                </c:pt>
                <c:pt idx="10">
                  <c:v>4.2</c:v>
                </c:pt>
                <c:pt idx="11">
                  <c:v>-0.3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999C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2A2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999C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56d5a6e-f07a-4f74-8fd3-4f6856ce38ba}"/>
      </c:ext>
    </c:extLst>
  </c:chart>
  <c:spPr>
    <a:solidFill>
      <a:srgbClr val="16164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E0E0FF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E0E0FF"/>
                </a:solidFill>
                <a:latin typeface="Arial" panose="020B0604020202020204"/>
              </a:rPr>
              <a:t>Profit Margin by Sub-Category (K)</a:t>
            </a:r>
            <a:endParaRPr sz="1100" b="0" i="0" u="none" strike="noStrike">
              <a:solidFill>
                <a:srgbClr val="E0E0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(K)</c:v>
                </c:pt>
              </c:strCache>
            </c:strRef>
          </c:tx>
          <c:spPr>
            <a:solidFill>
              <a:srgbClr val="FFD16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D1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C63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9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Printers</c:v>
                </c:pt>
                <c:pt idx="1">
                  <c:v>Bookcases</c:v>
                </c:pt>
                <c:pt idx="2">
                  <c:v>Saree</c:v>
                </c:pt>
                <c:pt idx="3">
                  <c:v>Accessories</c:v>
                </c:pt>
                <c:pt idx="4">
                  <c:v>Tables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8.6</c:v>
                </c:pt>
                <c:pt idx="1">
                  <c:v>6.5</c:v>
                </c:pt>
                <c:pt idx="2">
                  <c:v>4.1</c:v>
                </c:pt>
                <c:pt idx="3">
                  <c:v>3.4</c:v>
                </c:pt>
                <c:pt idx="4">
                  <c:v>3.1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999C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2A2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999C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5822865-4e71-4f38-9c26-ede1e2857ff5}"/>
      </c:ext>
    </c:extLst>
  </c:chart>
  <c:spPr>
    <a:solidFill>
      <a:srgbClr val="16164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36576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36576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36576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36576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77724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12280" y="77724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77724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77724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18872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118872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18872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118872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60020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160020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160020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160020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01168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201168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201168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2011680"/>
            <a:ext cx="54864" cy="54864"/>
          </a:xfrm>
          <a:prstGeom prst="ellipse">
            <a:avLst/>
          </a:prstGeom>
          <a:solidFill>
            <a:srgbClr val="9999CC">
              <a:alpha val="4000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5720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57200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altLang="en-US" sz="900" b="1" dirty="0">
                <a:solidFill>
                  <a:srgbClr val="FFFFFF"/>
                </a:solidFill>
              </a:rPr>
              <a:t>MCA </a:t>
            </a:r>
            <a:r>
              <a:rPr lang="en-US" sz="900" b="1" dirty="0">
                <a:solidFill>
                  <a:srgbClr val="FFFFFF"/>
                </a:solidFill>
              </a:rPr>
              <a:t>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1005840"/>
            <a:ext cx="5943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E-Commerce Sales Analytics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02920" y="1737360"/>
            <a:ext cx="5943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Interactive Business Intelligence Dashboard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02920" y="2423160"/>
            <a:ext cx="3200400" cy="36576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30" name="Text 28"/>
          <p:cNvSpPr/>
          <p:nvPr/>
        </p:nvSpPr>
        <p:spPr>
          <a:xfrm>
            <a:off x="502920" y="257860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E0FF"/>
                </a:solidFill>
              </a:rPr>
              <a:t>Deepansh Jain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" y="2999232"/>
            <a:ext cx="5486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CC"/>
                </a:solidFill>
              </a:rPr>
              <a:t>Power BI  |  SQL  |  Business Intelligence  |  Data Analytics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3931920"/>
            <a:ext cx="1828800" cy="777240"/>
          </a:xfrm>
          <a:prstGeom prst="rect">
            <a:avLst/>
          </a:prstGeom>
          <a:solidFill>
            <a:srgbClr val="1616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931920"/>
            <a:ext cx="1828800" cy="43891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</a:rPr>
              <a:t>438K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02920" y="4343400"/>
            <a:ext cx="18288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CC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0" y="3931920"/>
            <a:ext cx="1828800" cy="777240"/>
          </a:xfrm>
          <a:prstGeom prst="rect">
            <a:avLst/>
          </a:prstGeom>
          <a:solidFill>
            <a:srgbClr val="1616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3931920"/>
            <a:ext cx="1828800" cy="43891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</a:rPr>
              <a:t>37K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560320" y="4343400"/>
            <a:ext cx="18288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CC"/>
                </a:solidFill>
              </a:rPr>
              <a:t>Profit Margin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17720" y="3931920"/>
            <a:ext cx="1828800" cy="777240"/>
          </a:xfrm>
          <a:prstGeom prst="rect">
            <a:avLst/>
          </a:prstGeom>
          <a:solidFill>
            <a:srgbClr val="1616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931920"/>
            <a:ext cx="1828800" cy="43891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</a:rPr>
              <a:t>500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617720" y="4343400"/>
            <a:ext cx="18288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CC"/>
                </a:solidFill>
              </a:rPr>
              <a:t>Orders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75120" y="3931920"/>
            <a:ext cx="1828800" cy="777240"/>
          </a:xfrm>
          <a:prstGeom prst="rect">
            <a:avLst/>
          </a:prstGeom>
          <a:solidFill>
            <a:srgbClr val="1616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3931920"/>
            <a:ext cx="1828800" cy="43891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</a:rPr>
              <a:t>121K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675120" y="4343400"/>
            <a:ext cx="18288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CC"/>
                </a:solidFill>
              </a:rPr>
              <a:t>Avg Order Value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229600" cy="27432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E0FF"/>
                </a:solidFill>
              </a:rPr>
              <a:t>Transforming raw e-commerce data into an interactive BI dashboard that drives faster, data-driven decisions.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743200" cy="3108960"/>
          </a:xfrm>
          <a:prstGeom prst="rect">
            <a:avLst/>
          </a:prstGeom>
          <a:solidFill>
            <a:srgbClr val="1616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2743200" cy="54864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8" name="Text 6"/>
          <p:cNvSpPr/>
          <p:nvPr/>
        </p:nvSpPr>
        <p:spPr>
          <a:xfrm>
            <a:off x="320040" y="160020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</a:rPr>
              <a:t>Purpose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46888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FF"/>
                </a:solidFill>
              </a:rPr>
              <a:t>Analyze sales, profit, customer, product &amp; payment patterns across the e-commerce business for end-to-end visibility.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743200" cy="3108960"/>
          </a:xfrm>
          <a:prstGeom prst="rect">
            <a:avLst/>
          </a:prstGeom>
          <a:solidFill>
            <a:srgbClr val="1616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508760"/>
            <a:ext cx="2743200" cy="54864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2" name="Text 10"/>
          <p:cNvSpPr/>
          <p:nvPr/>
        </p:nvSpPr>
        <p:spPr>
          <a:xfrm>
            <a:off x="3246120" y="160020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246888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FF"/>
                </a:solidFill>
              </a:rPr>
              <a:t>Track KPIs, identify high-performing segments, and provide real-time executive monitoring via interactive filters.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743200" cy="3108960"/>
          </a:xfrm>
          <a:prstGeom prst="rect">
            <a:avLst/>
          </a:prstGeom>
          <a:solidFill>
            <a:srgbClr val="1616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508760"/>
            <a:ext cx="2743200" cy="54864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16" name="Text 14"/>
          <p:cNvSpPr/>
          <p:nvPr/>
        </p:nvSpPr>
        <p:spPr>
          <a:xfrm>
            <a:off x="6172200" y="160020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166"/>
                </a:solidFill>
              </a:rPr>
              <a:t>BI Benefits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46888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FF"/>
                </a:solidFill>
              </a:rPr>
              <a:t>Centralized reporting, faster insight generation, improved strategic visibility and self-service decision support.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9D"/>
          </a:solidFill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229600" cy="27432"/>
          </a:xfrm>
          <a:prstGeom prst="rect">
            <a:avLst/>
          </a:prstGeom>
          <a:solidFill>
            <a:srgbClr val="FF6B9D"/>
          </a:solidFill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0E0FF"/>
                </a:solidFill>
              </a:rPr>
              <a:t>Without a unified analytics layer, e-commerce stakeholders struggle to track performance and act on business risks.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594360"/>
          </a:xfrm>
          <a:prstGeom prst="rect">
            <a:avLst/>
          </a:prstGeom>
          <a:solidFill>
            <a:srgbClr val="161640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63040"/>
            <a:ext cx="54864" cy="594360"/>
          </a:xfrm>
          <a:prstGeom prst="rect">
            <a:avLst/>
          </a:prstGeom>
          <a:solidFill>
            <a:srgbClr val="FF6B9D"/>
          </a:solidFill>
        </p:spPr>
      </p:sp>
      <p:sp>
        <p:nvSpPr>
          <p:cNvPr id="8" name="Text 6"/>
          <p:cNvSpPr/>
          <p:nvPr/>
        </p:nvSpPr>
        <p:spPr>
          <a:xfrm>
            <a:off x="502920" y="1508760"/>
            <a:ext cx="8138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FF"/>
                </a:solidFill>
              </a:rPr>
              <a:t>Sales, profit, and order trends scattered across raw files and disconnected reports — no single source of truth.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67128"/>
            <a:ext cx="8503920" cy="594360"/>
          </a:xfrm>
          <a:prstGeom prst="rect">
            <a:avLst/>
          </a:prstGeom>
          <a:solidFill>
            <a:srgbClr val="1616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67128"/>
            <a:ext cx="54864" cy="59436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11" name="Text 9"/>
          <p:cNvSpPr/>
          <p:nvPr/>
        </p:nvSpPr>
        <p:spPr>
          <a:xfrm>
            <a:off x="502920" y="2212848"/>
            <a:ext cx="8138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FF"/>
                </a:solidFill>
              </a:rPr>
              <a:t>Business teams lack clear visibility into state-wise revenue analysis and customer purchase behavior.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871216"/>
            <a:ext cx="8503920" cy="594360"/>
          </a:xfrm>
          <a:prstGeom prst="rect">
            <a:avLst/>
          </a:prstGeom>
          <a:solidFill>
            <a:srgbClr val="1616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871216"/>
            <a:ext cx="54864" cy="59436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4" name="Text 12"/>
          <p:cNvSpPr/>
          <p:nvPr/>
        </p:nvSpPr>
        <p:spPr>
          <a:xfrm>
            <a:off x="502920" y="2916936"/>
            <a:ext cx="8138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FF"/>
                </a:solidFill>
              </a:rPr>
              <a:t>Payment mode preferences are not consistently monitored, limiting operational and marketing decisions.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575304"/>
            <a:ext cx="8503920" cy="594360"/>
          </a:xfrm>
          <a:prstGeom prst="rect">
            <a:avLst/>
          </a:prstGeom>
          <a:solidFill>
            <a:srgbClr val="1616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575304"/>
            <a:ext cx="54864" cy="59436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17" name="Text 15"/>
          <p:cNvSpPr/>
          <p:nvPr/>
        </p:nvSpPr>
        <p:spPr>
          <a:xfrm>
            <a:off x="502920" y="3621024"/>
            <a:ext cx="8138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FF"/>
                </a:solidFill>
              </a:rPr>
              <a:t>Product-level profitability patterns may be missed, reducing category optimization opportunities.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279392"/>
            <a:ext cx="8503920" cy="594360"/>
          </a:xfrm>
          <a:prstGeom prst="rect">
            <a:avLst/>
          </a:prstGeom>
          <a:solidFill>
            <a:srgbClr val="1616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279392"/>
            <a:ext cx="54864" cy="594360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20" name="Text 18"/>
          <p:cNvSpPr/>
          <p:nvPr/>
        </p:nvSpPr>
        <p:spPr>
          <a:xfrm>
            <a:off x="502920" y="4325112"/>
            <a:ext cx="8138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FF"/>
                </a:solidFill>
              </a:rPr>
              <a:t>Monthly profit fluctuations are harder to diagnose without an interactive dashboard view.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Technologies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229600" cy="27432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1828800"/>
          </a:xfrm>
          <a:prstGeom prst="rect">
            <a:avLst/>
          </a:prstGeom>
          <a:solidFill>
            <a:srgbClr val="1616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63FF"/>
                </a:solidFill>
              </a:rPr>
              <a:t>Power BI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011680"/>
            <a:ext cx="2523744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FF"/>
                </a:solidFill>
              </a:rPr>
              <a:t>Dashboard creation, interactive filters, visual storytelling &amp; KPI monitoring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1828800"/>
          </a:xfrm>
          <a:prstGeom prst="rect">
            <a:avLst/>
          </a:prstGeom>
          <a:solidFill>
            <a:srgbClr val="1616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46120" y="1627632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</a:rPr>
              <a:t>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2011680"/>
            <a:ext cx="2523744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FF"/>
                </a:solidFill>
              </a:rPr>
              <a:t>Database integration, querying, aggregations, joins &amp; structured data extraction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743200" cy="1828800"/>
          </a:xfrm>
          <a:prstGeom prst="rect">
            <a:avLst/>
          </a:prstGeom>
          <a:solidFill>
            <a:srgbClr val="1616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09728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72200" y="1627632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</a:rPr>
              <a:t>Excel / CSV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81928" y="2011680"/>
            <a:ext cx="2523744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FF"/>
                </a:solidFill>
              </a:rPr>
              <a:t>Source files for orders and related business data; data import &amp; validation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00200" y="3017520"/>
            <a:ext cx="2743200" cy="1828800"/>
          </a:xfrm>
          <a:prstGeom prst="rect">
            <a:avLst/>
          </a:prstGeom>
          <a:solidFill>
            <a:srgbClr val="161640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06324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3593592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9D"/>
                </a:solidFill>
              </a:rPr>
              <a:t>Data Cleaning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09928" y="3977640"/>
            <a:ext cx="2523744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FF"/>
                </a:solidFill>
              </a:rPr>
              <a:t>Handling missing values, standardizing formats &amp; preparing usable datasets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3017520"/>
            <a:ext cx="2743200" cy="1828800"/>
          </a:xfrm>
          <a:prstGeom prst="rect">
            <a:avLst/>
          </a:prstGeom>
          <a:solidFill>
            <a:srgbClr val="1616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06324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26280" y="3593592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</a:rPr>
              <a:t>DAX &amp; Modeling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36008" y="3977640"/>
            <a:ext cx="2523744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FF"/>
                </a:solidFill>
              </a:rPr>
              <a:t>Calculated measures, KPI logic, table relationships &amp; analytical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Analysis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229600" cy="27432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1554480"/>
          </a:xfrm>
          <a:prstGeom prst="rect">
            <a:avLst/>
          </a:prstGeom>
          <a:solidFill>
            <a:srgbClr val="161640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63FF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52704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Collection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CC"/>
                </a:solidFill>
              </a:rPr>
              <a:t>Orders, customers, products, categories, payment modes, state-wise sales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81528" y="1783080"/>
            <a:ext cx="164592" cy="36576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10" name="Shape 8"/>
          <p:cNvSpPr/>
          <p:nvPr/>
        </p:nvSpPr>
        <p:spPr>
          <a:xfrm>
            <a:off x="3264408" y="1051560"/>
            <a:ext cx="2743200" cy="1554480"/>
          </a:xfrm>
          <a:prstGeom prst="rect">
            <a:avLst/>
          </a:prstGeom>
          <a:solidFill>
            <a:srgbClr val="16164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07899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FF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64408" y="152704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8745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CC"/>
                </a:solidFill>
              </a:rPr>
              <a:t>Remove inconsistencies, standardize fields, validate records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1783080"/>
            <a:ext cx="164592" cy="3657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5" name="Shape 13"/>
          <p:cNvSpPr/>
          <p:nvPr/>
        </p:nvSpPr>
        <p:spPr>
          <a:xfrm>
            <a:off x="6208776" y="1051560"/>
            <a:ext cx="2743200" cy="1554480"/>
          </a:xfrm>
          <a:prstGeom prst="rect">
            <a:avLst/>
          </a:prstGeom>
          <a:solidFill>
            <a:srgbClr val="161640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07899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D6A0"/>
                </a:solidFill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08776" y="152704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SQL Querying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0216" y="18745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CC"/>
                </a:solidFill>
              </a:rPr>
              <a:t>Extract trends, aggregate metrics, prepare business-ready tables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743200" cy="1554480"/>
          </a:xfrm>
          <a:prstGeom prst="rect">
            <a:avLst/>
          </a:prstGeom>
          <a:solidFill>
            <a:srgbClr val="16164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86207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166"/>
                </a:solidFill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0040" y="331012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Modeling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65760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CC"/>
                </a:solidFill>
              </a:rPr>
              <a:t>Create relationships, define DAX measures, calculate KPIs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81528" y="3566160"/>
            <a:ext cx="164592" cy="36576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24" name="Shape 22"/>
          <p:cNvSpPr/>
          <p:nvPr/>
        </p:nvSpPr>
        <p:spPr>
          <a:xfrm>
            <a:off x="3264408" y="2834640"/>
            <a:ext cx="2743200" cy="1554480"/>
          </a:xfrm>
          <a:prstGeom prst="rect">
            <a:avLst/>
          </a:prstGeom>
          <a:solidFill>
            <a:srgbClr val="161640"/>
          </a:solidFill>
          <a:ln w="19050">
            <a:solidFill>
              <a:srgbClr val="FF6B9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286207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9D"/>
                </a:solidFill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264408" y="331012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Dev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55848" y="365760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CC"/>
                </a:solidFill>
              </a:rPr>
              <a:t>Build Power BI views, interactive filters, visual storytelling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25896" y="3566160"/>
            <a:ext cx="164592" cy="36576"/>
          </a:xfrm>
          <a:prstGeom prst="rect">
            <a:avLst/>
          </a:prstGeom>
          <a:solidFill>
            <a:srgbClr val="FF6B9D"/>
          </a:solidFill>
        </p:spPr>
      </p:sp>
      <p:sp>
        <p:nvSpPr>
          <p:cNvPr id="29" name="Shape 27"/>
          <p:cNvSpPr/>
          <p:nvPr/>
        </p:nvSpPr>
        <p:spPr>
          <a:xfrm>
            <a:off x="6208776" y="2834640"/>
            <a:ext cx="2743200" cy="1554480"/>
          </a:xfrm>
          <a:prstGeom prst="rect">
            <a:avLst/>
          </a:prstGeom>
          <a:solidFill>
            <a:srgbClr val="161640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08776" y="286207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63FF"/>
                </a:solidFill>
              </a:rPr>
              <a:t>06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208776" y="331012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KPI Analysis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0216" y="365760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CC"/>
                </a:solidFill>
              </a:rPr>
              <a:t>Interpret performance indicators and surface actionable insights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49640" y="1801368"/>
            <a:ext cx="36576" cy="106984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4" name="Shape 32"/>
          <p:cNvSpPr/>
          <p:nvPr/>
        </p:nvSpPr>
        <p:spPr>
          <a:xfrm>
            <a:off x="320040" y="2834640"/>
            <a:ext cx="8266176" cy="36576"/>
          </a:xfrm>
          <a:prstGeom prst="rect">
            <a:avLst/>
          </a:prstGeom>
          <a:solidFill>
            <a:srgbClr val="00D4FF">
              <a:alpha val="30000"/>
            </a:srgbClr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Dashboard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3657600" cy="27432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5" name="Shape 3"/>
          <p:cNvSpPr/>
          <p:nvPr/>
        </p:nvSpPr>
        <p:spPr>
          <a:xfrm>
            <a:off x="320040" y="914400"/>
            <a:ext cx="1645920" cy="868680"/>
          </a:xfrm>
          <a:prstGeom prst="rect">
            <a:avLst/>
          </a:prstGeom>
          <a:solidFill>
            <a:srgbClr val="16164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645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</a:rPr>
              <a:t>438K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1645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CC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914400"/>
            <a:ext cx="1645920" cy="868680"/>
          </a:xfrm>
          <a:prstGeom prst="rect">
            <a:avLst/>
          </a:prstGeom>
          <a:solidFill>
            <a:srgbClr val="161640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960120"/>
            <a:ext cx="1645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</a:rPr>
              <a:t>37K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48840" y="1444752"/>
            <a:ext cx="1645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CC"/>
                </a:solidFill>
              </a:rPr>
              <a:t>Profit Margin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1645920" cy="868680"/>
          </a:xfrm>
          <a:prstGeom prst="rect">
            <a:avLst/>
          </a:prstGeom>
          <a:solidFill>
            <a:srgbClr val="16164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65960"/>
            <a:ext cx="1645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</a:rPr>
              <a:t>500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" y="2450592"/>
            <a:ext cx="1645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CC"/>
                </a:solidFill>
              </a:rPr>
              <a:t>Orders Count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8840" y="1920240"/>
            <a:ext cx="1645920" cy="868680"/>
          </a:xfrm>
          <a:prstGeom prst="rect">
            <a:avLst/>
          </a:prstGeom>
          <a:solidFill>
            <a:srgbClr val="161640"/>
          </a:solidFill>
          <a:ln w="19050">
            <a:solidFill>
              <a:srgbClr val="FF6B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1965960"/>
            <a:ext cx="1645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9D"/>
                </a:solidFill>
              </a:rPr>
              <a:t>121K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48840" y="2450592"/>
            <a:ext cx="1645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CC"/>
                </a:solidFill>
              </a:rPr>
              <a:t>Avg Order Value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97180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</a:rPr>
              <a:t>Interactive Filters: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1E1E5C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9184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FF"/>
                </a:solidFill>
              </a:rPr>
              <a:t>State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329184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1E1E5C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329184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FF"/>
                </a:solidFill>
              </a:rPr>
              <a:t>Category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74904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1E1E5C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74904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FF"/>
                </a:solidFill>
              </a:rPr>
              <a:t>Payment Mode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374904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1E1E5C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374904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FF"/>
                </a:solidFill>
              </a:rPr>
              <a:t>Date Range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77640" y="182880"/>
            <a:ext cx="5074920" cy="4754880"/>
          </a:xfrm>
          <a:prstGeom prst="rect">
            <a:avLst/>
          </a:prstGeom>
          <a:solidFill>
            <a:srgbClr val="161640"/>
          </a:solidFill>
          <a:ln w="19050">
            <a:solidFill>
              <a:srgbClr val="6C63FF"/>
            </a:solidFill>
            <a:prstDash val="solid"/>
          </a:ln>
        </p:spPr>
      </p:sp>
      <p:pic>
        <p:nvPicPr>
          <p:cNvPr id="27" name="Image 0" descr="/home/claude/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256032"/>
            <a:ext cx="4892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Key Insights &amp; Findings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229600" cy="27432"/>
          </a:xfrm>
          <a:prstGeom prst="rect">
            <a:avLst/>
          </a:prstGeom>
          <a:solidFill>
            <a:srgbClr val="FFD166"/>
          </a:solidFill>
        </p:spPr>
      </p:sp>
      <p:graphicFrame>
        <p:nvGraphicFramePr>
          <p:cNvPr id="5" name="Chart 0"/>
          <p:cNvGraphicFramePr/>
          <p:nvPr/>
        </p:nvGraphicFramePr>
        <p:xfrm>
          <a:off x="320040" y="82296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26280" y="822960"/>
          <a:ext cx="23774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6995160" y="822960"/>
          <a:ext cx="20574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3"/>
          <p:cNvGraphicFramePr/>
          <p:nvPr/>
        </p:nvGraphicFramePr>
        <p:xfrm>
          <a:off x="320040" y="2971800"/>
          <a:ext cx="502920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4"/>
          <p:cNvGraphicFramePr/>
          <p:nvPr/>
        </p:nvGraphicFramePr>
        <p:xfrm>
          <a:off x="5440680" y="2971800"/>
          <a:ext cx="361188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Business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229600" cy="27432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5" name="Shape 3"/>
          <p:cNvSpPr/>
          <p:nvPr/>
        </p:nvSpPr>
        <p:spPr>
          <a:xfrm>
            <a:off x="320040" y="1005840"/>
            <a:ext cx="4206240" cy="1143000"/>
          </a:xfrm>
          <a:prstGeom prst="rect">
            <a:avLst/>
          </a:prstGeom>
          <a:solidFill>
            <a:srgbClr val="1616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114300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7" name="Text 5"/>
          <p:cNvSpPr/>
          <p:nvPr/>
        </p:nvSpPr>
        <p:spPr>
          <a:xfrm>
            <a:off x="457200" y="1078992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</a:rPr>
              <a:t>📈  Single Source of Truth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9776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F"/>
                </a:solidFill>
              </a:rPr>
              <a:t>Management can monitor revenue, orders, and profitability from one centralized dashboard — eliminating scattered reports.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4206240" cy="1143000"/>
          </a:xfrm>
          <a:prstGeom prst="rect">
            <a:avLst/>
          </a:prstGeom>
          <a:solidFill>
            <a:srgbClr val="1616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286000"/>
            <a:ext cx="54864" cy="114300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1" name="Text 9"/>
          <p:cNvSpPr/>
          <p:nvPr/>
        </p:nvSpPr>
        <p:spPr>
          <a:xfrm>
            <a:off x="457200" y="2359152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🗺️  Regional Decision Making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24912"/>
            <a:ext cx="39776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F"/>
                </a:solidFill>
              </a:rPr>
              <a:t>State-wise revenue analysis enables faster, targeted business decisions for high and low performing regions.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566160"/>
            <a:ext cx="4206240" cy="1143000"/>
          </a:xfrm>
          <a:prstGeom prst="rect">
            <a:avLst/>
          </a:prstGeom>
          <a:solidFill>
            <a:srgbClr val="1616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566160"/>
            <a:ext cx="54864" cy="1143000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15" name="Text 13"/>
          <p:cNvSpPr/>
          <p:nvPr/>
        </p:nvSpPr>
        <p:spPr>
          <a:xfrm>
            <a:off x="457200" y="3639312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🏷️  Category Optimization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05072"/>
            <a:ext cx="39776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F"/>
                </a:solidFill>
              </a:rPr>
              <a:t>Product quantity and profit-margin insights enable strategic inventory and category management decisions.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27448" y="1005840"/>
            <a:ext cx="4800600" cy="1143000"/>
          </a:xfrm>
          <a:prstGeom prst="rect">
            <a:avLst/>
          </a:prstGeom>
          <a:solidFill>
            <a:srgbClr val="1616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7448" y="1005840"/>
            <a:ext cx="54864" cy="114300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19" name="Text 17"/>
          <p:cNvSpPr/>
          <p:nvPr/>
        </p:nvSpPr>
        <p:spPr>
          <a:xfrm>
            <a:off x="4864608" y="1078992"/>
            <a:ext cx="4617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💳  Operational Intelligence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1444752"/>
            <a:ext cx="45720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F"/>
                </a:solidFill>
              </a:rPr>
              <a:t>Payment mode analytics and customer purchase trends improve operational understanding and marketing targeting.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2286000"/>
            <a:ext cx="4800600" cy="1143000"/>
          </a:xfrm>
          <a:prstGeom prst="rect">
            <a:avLst/>
          </a:prstGeom>
          <a:solidFill>
            <a:srgbClr val="161640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27448" y="2286000"/>
            <a:ext cx="54864" cy="1143000"/>
          </a:xfrm>
          <a:prstGeom prst="rect">
            <a:avLst/>
          </a:prstGeom>
          <a:solidFill>
            <a:srgbClr val="FF6B9D"/>
          </a:solidFill>
        </p:spPr>
      </p:sp>
      <p:sp>
        <p:nvSpPr>
          <p:cNvPr id="23" name="Text 21"/>
          <p:cNvSpPr/>
          <p:nvPr/>
        </p:nvSpPr>
        <p:spPr>
          <a:xfrm>
            <a:off x="4864608" y="2359152"/>
            <a:ext cx="4617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9D"/>
                </a:solidFill>
              </a:rPr>
              <a:t>⚡  Reduced Manual Effort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2724912"/>
            <a:ext cx="45720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F"/>
                </a:solidFill>
              </a:rPr>
              <a:t>Automated reporting reduces manual workload, freeing analysts for higher-value strategic work and building a data culture.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Enhancements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229600" cy="2743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3840480"/>
          </a:xfrm>
          <a:prstGeom prst="rect">
            <a:avLst/>
          </a:prstGeom>
          <a:solidFill>
            <a:srgbClr val="161640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7" name="Text 5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Phase 1 — Short Term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274320" cy="274320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9" name="Text 7"/>
          <p:cNvSpPr/>
          <p:nvPr/>
        </p:nvSpPr>
        <p:spPr>
          <a:xfrm>
            <a:off x="502920" y="17373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</a:rPr>
              <a:t>Add forecasting models for future sales &amp; profit trends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274320" cy="274320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2" name="Text 10"/>
          <p:cNvSpPr/>
          <p:nvPr/>
        </p:nvSpPr>
        <p:spPr>
          <a:xfrm>
            <a:off x="502920" y="251460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46888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</a:rPr>
              <a:t>Introduce customer segmentation analytics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64408" y="1005840"/>
            <a:ext cx="2743200" cy="3840480"/>
          </a:xfrm>
          <a:prstGeom prst="rect">
            <a:avLst/>
          </a:prstGeom>
          <a:solidFill>
            <a:srgbClr val="16164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1005840"/>
            <a:ext cx="2743200" cy="5029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6" name="Text 14"/>
          <p:cNvSpPr/>
          <p:nvPr/>
        </p:nvSpPr>
        <p:spPr>
          <a:xfrm>
            <a:off x="3264408" y="100584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Phase 2 — Medium Term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47288" y="1737360"/>
            <a:ext cx="274320" cy="274320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18" name="Text 16"/>
          <p:cNvSpPr/>
          <p:nvPr/>
        </p:nvSpPr>
        <p:spPr>
          <a:xfrm>
            <a:off x="3447288" y="17373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3048" y="169164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</a:rPr>
              <a:t>Expand SQL integration to automated pipelines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47288" y="2514600"/>
            <a:ext cx="274320" cy="274320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21" name="Text 19"/>
          <p:cNvSpPr/>
          <p:nvPr/>
        </p:nvSpPr>
        <p:spPr>
          <a:xfrm>
            <a:off x="3447288" y="251460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13048" y="246888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</a:rPr>
              <a:t>Near real-time data refresh for live monitoring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8776" y="1005840"/>
            <a:ext cx="2743200" cy="3840480"/>
          </a:xfrm>
          <a:prstGeom prst="rect">
            <a:avLst/>
          </a:prstGeom>
          <a:solidFill>
            <a:srgbClr val="161640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8776" y="1005840"/>
            <a:ext cx="2743200" cy="50292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25" name="Text 23"/>
          <p:cNvSpPr/>
          <p:nvPr/>
        </p:nvSpPr>
        <p:spPr>
          <a:xfrm>
            <a:off x="6208776" y="100584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Phase 3 — Long Term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91656" y="1737360"/>
            <a:ext cx="274320" cy="274320"/>
          </a:xfrm>
          <a:prstGeom prst="ellipse">
            <a:avLst/>
          </a:prstGeom>
          <a:solidFill>
            <a:srgbClr val="6C63FF"/>
          </a:solidFill>
        </p:spPr>
      </p:sp>
      <p:sp>
        <p:nvSpPr>
          <p:cNvPr id="27" name="Text 25"/>
          <p:cNvSpPr/>
          <p:nvPr/>
        </p:nvSpPr>
        <p:spPr>
          <a:xfrm>
            <a:off x="6391656" y="17373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69164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</a:rPr>
              <a:t>Drill-down views for products, customers &amp; return analysis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91656" y="2514600"/>
            <a:ext cx="274320" cy="274320"/>
          </a:xfrm>
          <a:prstGeom prst="ellipse">
            <a:avLst/>
          </a:prstGeom>
          <a:solidFill>
            <a:srgbClr val="6C63FF"/>
          </a:solidFill>
        </p:spPr>
      </p:sp>
      <p:sp>
        <p:nvSpPr>
          <p:cNvPr id="30" name="Text 28"/>
          <p:cNvSpPr/>
          <p:nvPr/>
        </p:nvSpPr>
        <p:spPr>
          <a:xfrm>
            <a:off x="6391656" y="251460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57416" y="246888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</a:rPr>
              <a:t>Advanced alerts, executive scorecards &amp; mobile layouts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CC"/>
                </a:solidFill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4" name="Shape 2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1481328"/>
            <a:ext cx="4572000" cy="4572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8" name="Text 6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</a:rPr>
              <a:t>Deepansh Jain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altLang="en-US" sz="1400" dirty="0">
                <a:solidFill>
                  <a:srgbClr val="9999CC"/>
                </a:solidFill>
              </a:rPr>
              <a:t>MCA STUDENT</a:t>
            </a:r>
            <a:endParaRPr lang="en-IN" altLang="en-US" sz="1400" dirty="0">
              <a:solidFill>
                <a:srgbClr val="9999CC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542032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0E0FF"/>
                </a:solidFill>
              </a:rPr>
              <a:t>This project demonstrates practical Data Analytics, BI Dashboarding, and Business Storytelling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E0E0FF"/>
                </a:solidFill>
              </a:rPr>
              <a:t>capability — combining SQL, Power BI, DAX, Data Modeling &amp; Data Cleaning into one business solution.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97280" y="3547872"/>
            <a:ext cx="2148840" cy="777240"/>
          </a:xfrm>
          <a:prstGeom prst="rect">
            <a:avLst/>
          </a:prstGeom>
          <a:solidFill>
            <a:srgbClr val="1616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56616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63FF"/>
                </a:solidFill>
              </a:rPr>
              <a:t>📧 Email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2148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CC"/>
                </a:solidFill>
              </a:rPr>
              <a:t>deepanshjain</a:t>
            </a:r>
            <a:r>
              <a:rPr lang="en-IN" altLang="en-US" sz="950" dirty="0">
                <a:solidFill>
                  <a:srgbClr val="9999CC"/>
                </a:solidFill>
              </a:rPr>
              <a:t>06</a:t>
            </a:r>
            <a:r>
              <a:rPr lang="en-US" sz="950" dirty="0">
                <a:solidFill>
                  <a:srgbClr val="9999CC"/>
                </a:solidFill>
              </a:rPr>
              <a:t>@email.com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66160" y="3547872"/>
            <a:ext cx="2148840" cy="777240"/>
          </a:xfrm>
          <a:prstGeom prst="rect">
            <a:avLst/>
          </a:prstGeom>
          <a:solidFill>
            <a:srgbClr val="1616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56616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63FF"/>
                </a:solidFill>
              </a:rPr>
              <a:t>🔗 LinkedIn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3886200"/>
            <a:ext cx="2148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CC"/>
                </a:solidFill>
              </a:rPr>
              <a:t>linkedin.com/in/deepanshjain</a:t>
            </a:r>
            <a:r>
              <a:rPr lang="en-IN" altLang="en-US" sz="950" dirty="0">
                <a:solidFill>
                  <a:srgbClr val="9999CC"/>
                </a:solidFill>
              </a:rPr>
              <a:t>06</a:t>
            </a:r>
            <a:endParaRPr lang="en-IN" altLang="en-US" sz="950" dirty="0">
              <a:solidFill>
                <a:srgbClr val="9999CC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35040" y="3547872"/>
            <a:ext cx="2148840" cy="777240"/>
          </a:xfrm>
          <a:prstGeom prst="rect">
            <a:avLst/>
          </a:prstGeom>
          <a:solidFill>
            <a:srgbClr val="1616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56616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63FF"/>
                </a:solidFill>
              </a:rPr>
              <a:t>💼 Portfolio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886200"/>
            <a:ext cx="2148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CC"/>
                </a:solidFill>
              </a:rPr>
              <a:t>github.com/deepanshjain</a:t>
            </a:r>
            <a:r>
              <a:rPr lang="en-IN" altLang="en-US" sz="950" dirty="0">
                <a:solidFill>
                  <a:srgbClr val="9999CC"/>
                </a:solidFill>
              </a:rPr>
              <a:t>06</a:t>
            </a:r>
            <a:endParaRPr lang="en-IN" altLang="en-US" sz="950" dirty="0">
              <a:solidFill>
                <a:srgbClr val="9999CC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4498848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E1E5C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498848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E0FF"/>
                </a:solidFill>
              </a:rPr>
              <a:t>438K  Revenue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4498848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E1E5C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4498848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E0FF"/>
                </a:solidFill>
              </a:rPr>
              <a:t>37K  Profit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4498848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E1E5C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498848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E0FF"/>
                </a:solidFill>
              </a:rPr>
              <a:t>500  Orders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4498848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E1E5C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498848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altLang="en-US" sz="1100" b="1" dirty="0">
                <a:solidFill>
                  <a:srgbClr val="E0E0FF"/>
                </a:solidFill>
              </a:rPr>
              <a:t>5615 Total Qty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3945</Words>
  <Application>WPS Presentation</Application>
  <PresentationFormat>On-screen Show (16:9)</PresentationFormat>
  <Paragraphs>241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Analytics Dashboard</dc:title>
  <dc:creator>Deepansh Jain</dc:creator>
  <dc:subject>PptxGenJS Presentation</dc:subject>
  <cp:lastModifiedBy>deepansh jain</cp:lastModifiedBy>
  <cp:revision>9</cp:revision>
  <dcterms:created xsi:type="dcterms:W3CDTF">2026-05-17T05:58:00Z</dcterms:created>
  <dcterms:modified xsi:type="dcterms:W3CDTF">2026-05-22T05:21:50Z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F5AF7CC19229468EB800985E0FBA82B4_12</vt:lpwstr>
  </property>
  <property fmtid="{D5CDD505-2E9C-101B-9397-08002B2CF9AE}" pid="3" name="KSOProductBuildVer">
    <vt:lpwstr>1033-12.1.0.26372</vt:lpwstr>
  </property>
</Properties>
</file>